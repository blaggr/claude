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CASE-MATCH is a decision-support framework: it recommends which caseworker should take which case; supervisors always make the final call. This deck presents the logic model for a lay audience.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Framing: assignment today is driven by rotation and raw case counts. Stats: Edwards &amp; Wildeman 2018 (tenure, turnover); Kim et al. 2017 (1 in 3 / 37.4% lifetime CPS investigation prevalence).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logic model. Columns follow the standard inputs-activities-outputs-outcomes structure in plain language. Long-term child/family outcomes are framed as goals to be tested (the framework's stepped-wedge pilot), not promises. Assumptions and external factors run along the bottom, as in classic W.K. Kellogg logic model format.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operational loop and the four governance commitments most important for a lay audience: no family scoring, human decisions, scheduled fairness audits, and worker transparency.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Plain-language glossary for the six terms a lay audience will hear most. Points back to the full framework for technical detail.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463040"/>
            <a:ext cx="4754880" cy="475488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149840" y="4480560"/>
            <a:ext cx="3291840" cy="3291840"/>
          </a:xfrm>
          <a:prstGeom prst="ellipse">
            <a:avLst/>
          </a:prstGeom>
          <a:solidFill>
            <a:srgbClr val="E8985E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5120640"/>
            <a:ext cx="2743200" cy="2743200"/>
          </a:xfrm>
          <a:prstGeom prst="ellipse">
            <a:avLst/>
          </a:prstGeom>
          <a:solidFill>
            <a:srgbClr val="4FB3AC">
              <a:alpha val="16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CASE-MATCH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31520" y="288036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7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every child's case to the right caseworker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352044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CC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logic model in plain language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603504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QIC-WA  ·  Analytics &amp; Visualization work stream  ·  July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5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change how cases are assigned?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5486400" cy="3383280"/>
          </a:xfrm>
          <a:prstGeom prst="roundRect">
            <a:avLst>
              <a:gd name="adj" fmla="val 2432"/>
            </a:avLst>
          </a:prstGeom>
          <a:solidFill>
            <a:srgbClr val="F4F4F2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3716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35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usually works today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4892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73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go to whoever is “next up” in rotation, or whoever has the fewest cases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73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count of 15 easy cases and 15 very hard cases look the same on paper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73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hardest cases often land on the same experienced workers, again and again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73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a worker’s skills fit a family’s needs is mostly a matter of chance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17920" y="1143000"/>
            <a:ext cx="5486400" cy="3383280"/>
          </a:xfrm>
          <a:prstGeom prst="roundRect">
            <a:avLst>
              <a:gd name="adj" fmla="val 2432"/>
            </a:avLst>
          </a:prstGeom>
          <a:solidFill>
            <a:srgbClr val="EDF7F6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37960" y="13716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264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CASE-MATCH changes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537960" y="1828800"/>
            <a:ext cx="4892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73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case gets a short rating of what it actually needs — and how much work it really is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73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worker has a fair, transparent profile of skills, training, and capacity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73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suggests the best-fitting workers and explains why, in plain language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73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Supervisors always make the final call — the tool never decides on its own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4800600"/>
            <a:ext cx="3621024" cy="1325880"/>
          </a:xfrm>
          <a:prstGeom prst="roundRect">
            <a:avLst>
              <a:gd name="adj" fmla="val 6207"/>
            </a:avLst>
          </a:prstGeom>
          <a:solidFill>
            <a:srgbClr val="093A40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49377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98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~1.8 yrs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85800" y="5468112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time a caseworker stays in the job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07408" y="4800600"/>
            <a:ext cx="3621024" cy="1325880"/>
          </a:xfrm>
          <a:prstGeom prst="roundRect">
            <a:avLst>
              <a:gd name="adj" fmla="val 6207"/>
            </a:avLst>
          </a:prstGeom>
          <a:solidFill>
            <a:srgbClr val="093A40"/>
          </a:solidFill>
          <a:ln/>
        </p:spPr>
      </p:sp>
      <p:sp>
        <p:nvSpPr>
          <p:cNvPr id="13" name="Text 11"/>
          <p:cNvSpPr/>
          <p:nvPr/>
        </p:nvSpPr>
        <p:spPr>
          <a:xfrm>
            <a:off x="4636008" y="49377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98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14–22%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636008" y="5468112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front-line workers leave each year (typical state)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357616" y="4800600"/>
            <a:ext cx="3621024" cy="1325880"/>
          </a:xfrm>
          <a:prstGeom prst="roundRect">
            <a:avLst>
              <a:gd name="adj" fmla="val 6207"/>
            </a:avLst>
          </a:prstGeom>
          <a:solidFill>
            <a:srgbClr val="093A40"/>
          </a:solidFill>
          <a:ln/>
        </p:spPr>
      </p:sp>
      <p:sp>
        <p:nvSpPr>
          <p:cNvPr id="16" name="Text 14"/>
          <p:cNvSpPr/>
          <p:nvPr/>
        </p:nvSpPr>
        <p:spPr>
          <a:xfrm>
            <a:off x="8586216" y="49377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98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in 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8586216" y="5468112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children experience a child-protection investigation by age 18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63550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from verified sources in the full CASE-MATCH framework (docs/references.md).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5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CASE-MATCH logic model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left to right: what we invest, what we do, what it produces — and the change we expect for workers, children, and families.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2139696" cy="658368"/>
          </a:xfrm>
          <a:prstGeom prst="chevron">
            <a:avLst/>
          </a:prstGeom>
          <a:solidFill>
            <a:srgbClr val="C7E8E6"/>
          </a:solidFill>
          <a:ln/>
        </p:spPr>
      </p:sp>
      <p:sp>
        <p:nvSpPr>
          <p:cNvPr id="5" name="Text 3"/>
          <p:cNvSpPr/>
          <p:nvPr/>
        </p:nvSpPr>
        <p:spPr>
          <a:xfrm>
            <a:off x="512064" y="1143000"/>
            <a:ext cx="16824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INVEST</a:t>
            </a:r>
            <a:endParaRPr lang="en-US" sz="1100" dirty="0"/>
          </a:p>
          <a:p>
            <a:pPr indent="0" marL="0">
              <a:buNone/>
            </a:pPr>
            <a:r>
              <a:rPr lang="en-US" sz="900" i="1" dirty="0">
                <a:solidFill>
                  <a:srgbClr val="173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892808"/>
            <a:ext cx="2139696" cy="3246120"/>
          </a:xfrm>
          <a:prstGeom prst="roundRect">
            <a:avLst>
              <a:gd name="adj" fmla="val 2564"/>
            </a:avLst>
          </a:prstGeom>
          <a:solidFill>
            <a:srgbClr val="EDF7F6"/>
          </a:solidFill>
          <a:ln w="9525">
            <a:solidFill>
              <a:srgbClr val="D3E8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2002536"/>
            <a:ext cx="1920240" cy="3026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73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information the agency already collects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73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0–3 rating of each case’s needs, across 7 areas of family life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73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profile of each worker’s skills, training, and experience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73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fair measure of how much work each worker can carry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73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Supervisors’ time and judgment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73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matching tool that suggests good pairings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88336" y="1143000"/>
            <a:ext cx="2139696" cy="658368"/>
          </a:xfrm>
          <a:prstGeom prst="chevron">
            <a:avLst/>
          </a:prstGeom>
          <a:solidFill>
            <a:srgbClr val="8FD3CE"/>
          </a:solidFill>
          <a:ln/>
        </p:spPr>
      </p:sp>
      <p:sp>
        <p:nvSpPr>
          <p:cNvPr id="9" name="Text 7"/>
          <p:cNvSpPr/>
          <p:nvPr/>
        </p:nvSpPr>
        <p:spPr>
          <a:xfrm>
            <a:off x="3072384" y="1143000"/>
            <a:ext cx="1444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DO</a:t>
            </a:r>
            <a:endParaRPr lang="en-US" sz="1100" dirty="0"/>
          </a:p>
          <a:p>
            <a:pPr indent="0" marL="0">
              <a:buNone/>
            </a:pPr>
            <a:r>
              <a:rPr lang="en-US" sz="900" i="1" dirty="0">
                <a:solidFill>
                  <a:srgbClr val="173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88336" y="1892808"/>
            <a:ext cx="2139696" cy="3246120"/>
          </a:xfrm>
          <a:prstGeom prst="roundRect">
            <a:avLst>
              <a:gd name="adj" fmla="val 2564"/>
            </a:avLst>
          </a:prstGeom>
          <a:solidFill>
            <a:srgbClr val="EDF7F6"/>
          </a:solidFill>
          <a:ln w="9525">
            <a:solidFill>
              <a:srgbClr val="D3E8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98064" y="2002536"/>
            <a:ext cx="1920240" cy="3026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73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each case when it arrives and when things change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73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worker profiles current and visible to the worker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73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suggests the top 3 workers per case — with reasons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73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Supervisors make the final call, every time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73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Rebalance workloads a few times a year, moving few cases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73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fairness and accuracy on a schedule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10912" y="1143000"/>
            <a:ext cx="2139696" cy="658368"/>
          </a:xfrm>
          <a:prstGeom prst="chevron">
            <a:avLst/>
          </a:prstGeom>
          <a:solidFill>
            <a:srgbClr val="4FB3AC"/>
          </a:solidFill>
          <a:ln/>
        </p:spPr>
      </p:sp>
      <p:sp>
        <p:nvSpPr>
          <p:cNvPr id="13" name="Text 11"/>
          <p:cNvSpPr/>
          <p:nvPr/>
        </p:nvSpPr>
        <p:spPr>
          <a:xfrm>
            <a:off x="5394960" y="1143000"/>
            <a:ext cx="1444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PRODUCES</a:t>
            </a:r>
            <a:endParaRPr lang="en-US" sz="1100" dirty="0"/>
          </a:p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10912" y="1892808"/>
            <a:ext cx="2139696" cy="3246120"/>
          </a:xfrm>
          <a:prstGeom prst="roundRect">
            <a:avLst>
              <a:gd name="adj" fmla="val 2564"/>
            </a:avLst>
          </a:prstGeom>
          <a:solidFill>
            <a:srgbClr val="EDF7F6"/>
          </a:solidFill>
          <a:ln w="9525">
            <a:solidFill>
              <a:srgbClr val="D3E8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0" y="2002536"/>
            <a:ext cx="1920240" cy="3026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73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case matched to a worker with the right skills for it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73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 overloaded — and hard cases shared fairly, not piled on a few people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73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workers start with lighter loads and grow with support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73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record of every recommendation, decision, and reason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73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warnings when no one has a needed skill — so leaders can train or hire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33488" y="1143000"/>
            <a:ext cx="2139696" cy="658368"/>
          </a:xfrm>
          <a:prstGeom prst="chevron">
            <a:avLst/>
          </a:prstGeom>
          <a:solidFill>
            <a:srgbClr val="148F87"/>
          </a:solidFill>
          <a:ln/>
        </p:spPr>
      </p:sp>
      <p:sp>
        <p:nvSpPr>
          <p:cNvPr id="17" name="Text 15"/>
          <p:cNvSpPr/>
          <p:nvPr/>
        </p:nvSpPr>
        <p:spPr>
          <a:xfrm>
            <a:off x="7717536" y="1143000"/>
            <a:ext cx="1444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FIRST</a:t>
            </a:r>
            <a:endParaRPr lang="en-US" sz="1100" dirty="0"/>
          </a:p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· 1–2 years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33488" y="1892808"/>
            <a:ext cx="2139696" cy="3246120"/>
          </a:xfrm>
          <a:prstGeom prst="roundRect">
            <a:avLst>
              <a:gd name="adj" fmla="val 2564"/>
            </a:avLst>
          </a:prstGeom>
          <a:solidFill>
            <a:srgbClr val="EDF7F6"/>
          </a:solidFill>
          <a:ln w="9525">
            <a:solidFill>
              <a:srgbClr val="D3E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43216" y="2002536"/>
            <a:ext cx="1920240" cy="3026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73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Workloads feel fair and doable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73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burnout from stacked-up traumatic cases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73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 with the most complex needs get the most prepared workers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73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Supervisors coach where it matters most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73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cases handed from worker to worker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656064" y="1143000"/>
            <a:ext cx="2139696" cy="658368"/>
          </a:xfrm>
          <a:prstGeom prst="chevron">
            <a:avLst/>
          </a:prstGeom>
          <a:solidFill>
            <a:srgbClr val="02646F"/>
          </a:solidFill>
          <a:ln/>
        </p:spPr>
      </p:sp>
      <p:sp>
        <p:nvSpPr>
          <p:cNvPr id="21" name="Text 19"/>
          <p:cNvSpPr/>
          <p:nvPr/>
        </p:nvSpPr>
        <p:spPr>
          <a:xfrm>
            <a:off x="10040112" y="1143000"/>
            <a:ext cx="1444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OVER TIME</a:t>
            </a:r>
            <a:endParaRPr lang="en-US" sz="1100" dirty="0"/>
          </a:p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· 3–5 years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656064" y="1892808"/>
            <a:ext cx="2139696" cy="3246120"/>
          </a:xfrm>
          <a:prstGeom prst="roundRect">
            <a:avLst>
              <a:gd name="adj" fmla="val 2564"/>
            </a:avLst>
          </a:prstGeom>
          <a:solidFill>
            <a:srgbClr val="EDF7F6"/>
          </a:solidFill>
          <a:ln w="9525">
            <a:solidFill>
              <a:srgbClr val="D3E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65792" y="2002536"/>
            <a:ext cx="1920240" cy="3026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73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stay longer; less turnover and less costly rehiring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73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keep the same worker — relationships hold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73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Steadier, faster paths to safe, permanent homes (the goal we will test)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73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agency that plans training and hiring with evidence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5349240"/>
            <a:ext cx="5623560" cy="1234440"/>
          </a:xfrm>
          <a:prstGeom prst="roundRect">
            <a:avLst>
              <a:gd name="adj" fmla="val 4444"/>
            </a:avLst>
          </a:prstGeom>
          <a:solidFill>
            <a:srgbClr val="F4F4F2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" y="544068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6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we’re counting on (assumptions)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66928" y="5751576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73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records are reasonably accurate · supervisors keep the final say · workers can see and question their own profiles · routine spot-checks keep ratings honest.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72200" y="5349240"/>
            <a:ext cx="5623560" cy="1234440"/>
          </a:xfrm>
          <a:prstGeom prst="roundRect">
            <a:avLst>
              <a:gd name="adj" fmla="val 4444"/>
            </a:avLst>
          </a:prstGeom>
          <a:solidFill>
            <a:srgbClr val="F4F4F2"/>
          </a:solidFill>
          <a:ln/>
        </p:spPr>
      </p:sp>
      <p:sp>
        <p:nvSpPr>
          <p:cNvPr id="28" name="Text 26"/>
          <p:cNvSpPr/>
          <p:nvPr/>
        </p:nvSpPr>
        <p:spPr>
          <a:xfrm>
            <a:off x="6373368" y="544068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6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outside our control (external factors)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73368" y="5751576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73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markets and budgets · court decisions and law changes · how many cases arrive and how difficult they are · state and federal policy shifts.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5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works, day to day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670048" cy="2651760"/>
          </a:xfrm>
          <a:prstGeom prst="roundRect">
            <a:avLst>
              <a:gd name="adj" fmla="val 3103"/>
            </a:avLst>
          </a:prstGeom>
          <a:solidFill>
            <a:srgbClr val="EDF7F6"/>
          </a:solidFill>
          <a:ln w="9525">
            <a:solidFill>
              <a:srgbClr val="D3E8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1463040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4630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58368" y="2148840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64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case arrives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58368" y="2560320"/>
            <a:ext cx="22677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3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worker who knows the case rates what it needs in 7 areas — about 10 minutes. The supervisor confirms the rating.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140964" y="2395728"/>
            <a:ext cx="173736" cy="329184"/>
          </a:xfrm>
          <a:prstGeom prst="chevron">
            <a:avLst/>
          </a:prstGeom>
          <a:solidFill>
            <a:srgbClr val="4FB3AC"/>
          </a:solidFill>
          <a:ln/>
        </p:spPr>
      </p:sp>
      <p:sp>
        <p:nvSpPr>
          <p:cNvPr id="9" name="Shape 7"/>
          <p:cNvSpPr/>
          <p:nvPr/>
        </p:nvSpPr>
        <p:spPr>
          <a:xfrm>
            <a:off x="3328416" y="1234440"/>
            <a:ext cx="2670048" cy="2651760"/>
          </a:xfrm>
          <a:prstGeom prst="roundRect">
            <a:avLst>
              <a:gd name="adj" fmla="val 3103"/>
            </a:avLst>
          </a:prstGeom>
          <a:solidFill>
            <a:srgbClr val="EDF7F6"/>
          </a:solidFill>
          <a:ln w="9525">
            <a:solidFill>
              <a:srgbClr val="D3E8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29584" y="1463040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3529584" y="14630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529584" y="2148840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64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tool compares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529584" y="2560320"/>
            <a:ext cx="22677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3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lines up the case’s needs against every worker’s skills, current workload, and room to take on more.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012180" y="2395728"/>
            <a:ext cx="173736" cy="329184"/>
          </a:xfrm>
          <a:prstGeom prst="chevron">
            <a:avLst/>
          </a:prstGeom>
          <a:solidFill>
            <a:srgbClr val="4FB3AC"/>
          </a:solidFill>
          <a:ln/>
        </p:spPr>
      </p:sp>
      <p:sp>
        <p:nvSpPr>
          <p:cNvPr id="15" name="Shape 13"/>
          <p:cNvSpPr/>
          <p:nvPr/>
        </p:nvSpPr>
        <p:spPr>
          <a:xfrm>
            <a:off x="6199632" y="1234440"/>
            <a:ext cx="2670048" cy="2651760"/>
          </a:xfrm>
          <a:prstGeom prst="roundRect">
            <a:avLst>
              <a:gd name="adj" fmla="val 3103"/>
            </a:avLst>
          </a:prstGeom>
          <a:solidFill>
            <a:srgbClr val="EDF7F6"/>
          </a:solidFill>
          <a:ln w="9525">
            <a:solidFill>
              <a:srgbClr val="D3E8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1463040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14630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00800" y="2148840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64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3 suggestions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400800" y="2560320"/>
            <a:ext cx="22677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3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supervisor sees the three best-fitting workers, with the reasons spelled out in plain language.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883396" y="2395728"/>
            <a:ext cx="173736" cy="329184"/>
          </a:xfrm>
          <a:prstGeom prst="chevron">
            <a:avLst/>
          </a:prstGeom>
          <a:solidFill>
            <a:srgbClr val="4FB3AC"/>
          </a:solidFill>
          <a:ln/>
        </p:spPr>
      </p:sp>
      <p:sp>
        <p:nvSpPr>
          <p:cNvPr id="21" name="Shape 19"/>
          <p:cNvSpPr/>
          <p:nvPr/>
        </p:nvSpPr>
        <p:spPr>
          <a:xfrm>
            <a:off x="9070848" y="1234440"/>
            <a:ext cx="2670048" cy="2651760"/>
          </a:xfrm>
          <a:prstGeom prst="roundRect">
            <a:avLst>
              <a:gd name="adj" fmla="val 3103"/>
            </a:avLst>
          </a:prstGeom>
          <a:solidFill>
            <a:srgbClr val="EDF7F6"/>
          </a:solidFill>
          <a:ln w="9525">
            <a:solidFill>
              <a:srgbClr val="D3E8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272016" y="1463040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9272016" y="14630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272016" y="2148840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64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person decides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272016" y="2560320"/>
            <a:ext cx="22677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3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supervisor picks — any qualified worker, not just the suggestions. The choice and reason are recorded.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57200" y="4206240"/>
            <a:ext cx="11247120" cy="2103120"/>
          </a:xfrm>
          <a:prstGeom prst="roundRect">
            <a:avLst>
              <a:gd name="adj" fmla="val 3913"/>
            </a:avLst>
          </a:prstGeom>
          <a:solidFill>
            <a:srgbClr val="093A40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440740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Built-in safeguards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77240" y="4892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9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about families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777240" y="5230368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7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rates the work a case requires. It never scores families or predicts risk.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520440" y="4892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9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decide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3520440" y="5230368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7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assignment is a human decision. The tool only suggests and explains.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263640" y="4892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9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is checked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263640" y="5230368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7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audits watch for unfair patterns — by race, language, and place.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9006840" y="4892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9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see their data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9006840" y="5230368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7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worker can view and contest their own profile. It is never used for discipline.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5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Words we use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621024" cy="2084832"/>
          </a:xfrm>
          <a:prstGeom prst="roundRect">
            <a:avLst>
              <a:gd name="adj" fmla="val 3947"/>
            </a:avLst>
          </a:prstGeom>
          <a:solidFill>
            <a:srgbClr val="EDF7F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417320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64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weight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316382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3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work a case really takes — measured in points, so one very complex case can “weigh” as much as several simple ones.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270248" y="1234440"/>
            <a:ext cx="3621024" cy="2084832"/>
          </a:xfrm>
          <a:prstGeom prst="roundRect">
            <a:avLst>
              <a:gd name="adj" fmla="val 3947"/>
            </a:avLst>
          </a:prstGeom>
          <a:solidFill>
            <a:srgbClr val="F4F4F2"/>
          </a:solidFill>
          <a:ln/>
        </p:spPr>
      </p:sp>
      <p:sp>
        <p:nvSpPr>
          <p:cNvPr id="7" name="Text 5"/>
          <p:cNvSpPr/>
          <p:nvPr/>
        </p:nvSpPr>
        <p:spPr>
          <a:xfrm>
            <a:off x="4498848" y="1417320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64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 score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498848" y="1828800"/>
            <a:ext cx="316382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3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0–100 number showing how well a worker’s skills and availability fit a particular case, with the reasons shown.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083296" y="1234440"/>
            <a:ext cx="3621024" cy="2084832"/>
          </a:xfrm>
          <a:prstGeom prst="roundRect">
            <a:avLst>
              <a:gd name="adj" fmla="val 3947"/>
            </a:avLst>
          </a:prstGeom>
          <a:solidFill>
            <a:srgbClr val="EDF7F6"/>
          </a:solidFill>
          <a:ln/>
        </p:spPr>
      </p:sp>
      <p:sp>
        <p:nvSpPr>
          <p:cNvPr id="10" name="Text 8"/>
          <p:cNvSpPr/>
          <p:nvPr/>
        </p:nvSpPr>
        <p:spPr>
          <a:xfrm>
            <a:off x="8311896" y="1417320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64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Caseload capacity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311896" y="1828800"/>
            <a:ext cx="316382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3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amount of case work a worker can carry, in points — adjusted for new-worker status, mentoring duties, and leave.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547872"/>
            <a:ext cx="3621024" cy="2084832"/>
          </a:xfrm>
          <a:prstGeom prst="roundRect">
            <a:avLst>
              <a:gd name="adj" fmla="val 3947"/>
            </a:avLst>
          </a:prstGeom>
          <a:solidFill>
            <a:srgbClr val="F4F4F2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730752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64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Severe-case share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85800" y="4142232"/>
            <a:ext cx="316382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3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limit on how much of any one worker’s caseload can be the most difficult, most traumatic cases. Hard cases get shared.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270248" y="3547872"/>
            <a:ext cx="3621024" cy="2084832"/>
          </a:xfrm>
          <a:prstGeom prst="roundRect">
            <a:avLst>
              <a:gd name="adj" fmla="val 3947"/>
            </a:avLst>
          </a:prstGeom>
          <a:solidFill>
            <a:srgbClr val="EDF7F6"/>
          </a:solidFill>
          <a:ln/>
        </p:spPr>
      </p:sp>
      <p:sp>
        <p:nvSpPr>
          <p:cNvPr id="16" name="Text 14"/>
          <p:cNvSpPr/>
          <p:nvPr/>
        </p:nvSpPr>
        <p:spPr>
          <a:xfrm>
            <a:off x="4498848" y="3730752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64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Stretch case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498848" y="4142232"/>
            <a:ext cx="316382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3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slightly-more-challenging case given on purpose to help a worker grow — only with supervisor sign-off and extra coaching.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083296" y="3547872"/>
            <a:ext cx="3621024" cy="2084832"/>
          </a:xfrm>
          <a:prstGeom prst="roundRect">
            <a:avLst>
              <a:gd name="adj" fmla="val 3947"/>
            </a:avLst>
          </a:prstGeom>
          <a:solidFill>
            <a:srgbClr val="F4F4F2"/>
          </a:solidFill>
          <a:ln/>
        </p:spPr>
      </p:sp>
      <p:sp>
        <p:nvSpPr>
          <p:cNvPr id="19" name="Text 17"/>
          <p:cNvSpPr/>
          <p:nvPr/>
        </p:nvSpPr>
        <p:spPr>
          <a:xfrm>
            <a:off x="8311896" y="3730752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64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Override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311896" y="4142232"/>
            <a:ext cx="316382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3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supervisor picks someone other than the tool’s suggestion. Always allowed; the reason is recorded so the tool can learn.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59893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technical framework, evidence review, and verified references: case-worker-matching/ (docs 01–08).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2026-08-01T00:58:41Z</dcterms:created>
  <dcterms:modified xsi:type="dcterms:W3CDTF">2026-08-01T00:58:41Z</dcterms:modified>
</cp:coreProperties>
</file>